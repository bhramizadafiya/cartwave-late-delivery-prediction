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HK Grotesk" panose="020B0604020202020204" charset="0"/>
      <p:regular r:id="rId14"/>
    </p:embeddedFont>
    <p:embeddedFont>
      <p:font typeface="HK Grotesk Bold" panose="020B0604020202020204" charset="0"/>
      <p:regular r:id="rId15"/>
    </p:embeddedFont>
    <p:embeddedFont>
      <p:font typeface="HK Grotesk Semi-Bold" panose="020B0604020202020204" charset="0"/>
      <p:regular r:id="rId16"/>
    </p:embeddedFont>
    <p:embeddedFont>
      <p:font typeface="Noto Serif Display ExtraCondensed" panose="020B0604020202020204"/>
      <p:regular r:id="rId17"/>
    </p:embeddedFont>
    <p:embeddedFont>
      <p:font typeface="Noto Serif Display ExtraCondensed Light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7203" r="-720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AutoShape 4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9050" y="676275"/>
            <a:ext cx="3306917" cy="1860141"/>
          </a:xfrm>
          <a:custGeom>
            <a:avLst/>
            <a:gdLst/>
            <a:ahLst/>
            <a:cxnLst/>
            <a:rect l="l" t="t" r="r" b="b"/>
            <a:pathLst>
              <a:path w="3306917" h="1860141">
                <a:moveTo>
                  <a:pt x="0" y="0"/>
                </a:moveTo>
                <a:lnTo>
                  <a:pt x="3306917" y="0"/>
                </a:lnTo>
                <a:lnTo>
                  <a:pt x="3306917" y="1860141"/>
                </a:lnTo>
                <a:lnTo>
                  <a:pt x="0" y="186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666750" y="4386675"/>
            <a:ext cx="6886575" cy="5840765"/>
            <a:chOff x="0" y="0"/>
            <a:chExt cx="9182100" cy="7787686"/>
          </a:xfrm>
        </p:grpSpPr>
        <p:sp>
          <p:nvSpPr>
            <p:cNvPr id="7" name="TextBox 7"/>
            <p:cNvSpPr txBox="1"/>
            <p:nvPr/>
          </p:nvSpPr>
          <p:spPr>
            <a:xfrm>
              <a:off x="0" y="5552486"/>
              <a:ext cx="9182100" cy="223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0A23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by: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>
                  <a:solidFill>
                    <a:srgbClr val="0A234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Praseeda Saripalle and Bhrami Zadafiya</a:t>
              </a:r>
              <a:r>
                <a:rPr lang="en-US" sz="2799" u="none">
                  <a:solidFill>
                    <a:srgbClr val="0A23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Team 3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>
                <a:solidFill>
                  <a:srgbClr val="0A2342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44837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600"/>
                </a:lnSpc>
              </a:pPr>
              <a:r>
                <a:rPr lang="en-US" sz="10600" spc="-212">
                  <a:solidFill>
                    <a:srgbClr val="0A2342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Reducing Late Deliveries</a:t>
              </a:r>
            </a:p>
            <a:p>
              <a:pPr marL="0" lvl="0" indent="0" algn="l">
                <a:lnSpc>
                  <a:spcPts val="5001"/>
                </a:lnSpc>
              </a:pPr>
              <a:r>
                <a:rPr lang="en-US" sz="5001" spc="-100">
                  <a:solidFill>
                    <a:srgbClr val="0A2342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- CartWave Marketplace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3129375"/>
            <a:ext cx="6886575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A2342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Data Science with Cloud Computing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A2342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(ADS-508-IN1)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29865"/>
            <a:ext cx="10056072" cy="502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Busin</a:t>
            </a: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ess Problem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Why This Matters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Our Approach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Data Used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Key Insights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What We Built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Business Impact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Recommendations</a:t>
            </a:r>
          </a:p>
          <a:p>
            <a:pPr marL="604519" lvl="1" indent="-302260" algn="l">
              <a:lnSpc>
                <a:spcPts val="4451"/>
              </a:lnSpc>
              <a:buFont typeface="Arial"/>
              <a:buChar char="•"/>
            </a:pPr>
            <a:r>
              <a:rPr lang="en-US" sz="2799" b="1" u="none" strike="noStrike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209675"/>
            <a:ext cx="11629744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4F7F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05457"/>
            <a:ext cx="10056072" cy="3067050"/>
            <a:chOff x="0" y="0"/>
            <a:chExt cx="13408097" cy="4089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408097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Th</a:t>
              </a: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13408097" cy="289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•</a:t>
              </a:r>
              <a:r>
                <a:rPr lang="en-US" sz="240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Increasing late deliveries</a:t>
              </a:r>
            </a:p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• Poor customer experience</a:t>
              </a:r>
            </a:p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• Negative reviews and complaints</a:t>
              </a:r>
            </a:p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• Reactive decision-making</a:t>
              </a:r>
            </a:p>
            <a:p>
              <a:pPr marL="0" lvl="0" indent="0" algn="l">
                <a:lnSpc>
                  <a:spcPts val="2879"/>
                </a:lnSpc>
              </a:pPr>
              <a:endPara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CartWave currently reacts to delays instead of preventing them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1629744" cy="2209800"/>
            <a:chOff x="0" y="0"/>
            <a:chExt cx="15506326" cy="2946400"/>
          </a:xfrm>
        </p:grpSpPr>
        <p:sp>
          <p:nvSpPr>
            <p:cNvPr id="6" name="TextBox 6"/>
            <p:cNvSpPr txBox="1"/>
            <p:nvPr/>
          </p:nvSpPr>
          <p:spPr>
            <a:xfrm>
              <a:off x="0" y="180975"/>
              <a:ext cx="15506326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4F7F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Problem Statement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87600"/>
              <a:ext cx="1550632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the Delivery Challenges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AutoShape 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742490" y="4137998"/>
            <a:ext cx="6176060" cy="4114800"/>
          </a:xfrm>
          <a:custGeom>
            <a:avLst/>
            <a:gdLst/>
            <a:ahLst/>
            <a:cxnLst/>
            <a:rect l="l" t="t" r="r" b="b"/>
            <a:pathLst>
              <a:path w="6176060" h="4114800">
                <a:moveTo>
                  <a:pt x="0" y="0"/>
                </a:moveTo>
                <a:lnTo>
                  <a:pt x="6176060" y="0"/>
                </a:lnTo>
                <a:lnTo>
                  <a:pt x="6176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8376239" cy="2362200"/>
            <a:chOff x="0" y="0"/>
            <a:chExt cx="11168318" cy="3149600"/>
          </a:xfrm>
        </p:grpSpPr>
        <p:sp>
          <p:nvSpPr>
            <p:cNvPr id="6" name="TextBox 6"/>
            <p:cNvSpPr txBox="1"/>
            <p:nvPr/>
          </p:nvSpPr>
          <p:spPr>
            <a:xfrm>
              <a:off x="0" y="180975"/>
              <a:ext cx="11168318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4F7F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Why This Matters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590800"/>
              <a:ext cx="11168318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508667"/>
            <a:ext cx="8978443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</a:t>
            </a: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 Decrease in customer satisfaction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Loss of repeat customers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Increased support costs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Reduced trust in sellers</a:t>
            </a:r>
          </a:p>
          <a:p>
            <a:pPr marL="0" lvl="0" indent="0" algn="l">
              <a:lnSpc>
                <a:spcPts val="2879"/>
              </a:lnSpc>
            </a:pPr>
            <a:endParaRPr lang="en-US" sz="2400" u="none" strike="noStrike">
              <a:solidFill>
                <a:srgbClr val="F4F7F9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Even small improvements can significantly impact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81075"/>
            <a:ext cx="12908620" cy="2362200"/>
            <a:chOff x="0" y="0"/>
            <a:chExt cx="17211493" cy="3149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7211493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4F7F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Approach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90800"/>
              <a:ext cx="1721149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Proactive Strategies for Improvement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3380291" y="3924300"/>
            <a:ext cx="1463230" cy="146323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DDE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7340887" y="5759175"/>
            <a:ext cx="0" cy="739426"/>
          </a:xfrm>
          <a:prstGeom prst="line">
            <a:avLst/>
          </a:prstGeom>
          <a:ln w="47625" cap="flat">
            <a:solidFill>
              <a:srgbClr val="36D1D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0058000" y="3924300"/>
            <a:ext cx="1463230" cy="146323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789615" y="5387530"/>
            <a:ext cx="0" cy="909460"/>
          </a:xfrm>
          <a:prstGeom prst="line">
            <a:avLst/>
          </a:prstGeom>
          <a:ln w="47625" cap="flat">
            <a:solidFill>
              <a:srgbClr val="37C9E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6609272" y="6498600"/>
            <a:ext cx="1463230" cy="146323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1D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4152282" y="5759175"/>
            <a:ext cx="0" cy="739426"/>
          </a:xfrm>
          <a:prstGeom prst="line">
            <a:avLst/>
          </a:prstGeom>
          <a:ln w="47625" cap="flat">
            <a:solidFill>
              <a:srgbClr val="2C92D5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3420667" y="6498600"/>
            <a:ext cx="1463230" cy="14632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4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834038" y="6979517"/>
            <a:ext cx="2555736" cy="85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0"/>
              </a:lnSpc>
            </a:pPr>
            <a:r>
              <a:rPr lang="en-US" sz="2600" b="1">
                <a:solidFill>
                  <a:srgbClr val="F4F7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ANA</a:t>
            </a:r>
            <a:r>
              <a:rPr lang="en-US" sz="2600" b="1" u="none">
                <a:solidFill>
                  <a:srgbClr val="F4F7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LYZE PAST ORDER DATA</a:t>
            </a:r>
          </a:p>
        </p:txBody>
      </p:sp>
      <p:sp>
        <p:nvSpPr>
          <p:cNvPr id="23" name="AutoShape 23"/>
          <p:cNvSpPr/>
          <p:nvPr/>
        </p:nvSpPr>
        <p:spPr>
          <a:xfrm flipH="1">
            <a:off x="4111906" y="5387530"/>
            <a:ext cx="0" cy="909460"/>
          </a:xfrm>
          <a:prstGeom prst="line">
            <a:avLst/>
          </a:prstGeom>
          <a:ln w="47625" cap="flat">
            <a:solidFill>
              <a:srgbClr val="78DDE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6063019" y="3895725"/>
            <a:ext cx="2555736" cy="128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0"/>
              </a:lnSpc>
            </a:pPr>
            <a:r>
              <a:rPr lang="en-US" sz="2600" b="1">
                <a:solidFill>
                  <a:srgbClr val="F4F7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IDENTIFY DELAY PATTERNS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56810" y="6765205"/>
            <a:ext cx="2555736" cy="128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0"/>
              </a:lnSpc>
            </a:pPr>
            <a:r>
              <a:rPr lang="en-US" sz="2600" b="1">
                <a:solidFill>
                  <a:srgbClr val="F4F7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PREDICT HIGH-RISK DELIVERIES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4414" y="3895725"/>
            <a:ext cx="2555736" cy="128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0"/>
              </a:lnSpc>
            </a:pPr>
            <a:r>
              <a:rPr lang="en-US" sz="2600" b="1">
                <a:solidFill>
                  <a:srgbClr val="F4F7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ENABLE PROACTIVE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8674980" y="3211905"/>
            <a:ext cx="8247127" cy="5572984"/>
          </a:xfrm>
          <a:custGeom>
            <a:avLst/>
            <a:gdLst/>
            <a:ahLst/>
            <a:cxnLst/>
            <a:rect l="l" t="t" r="r" b="b"/>
            <a:pathLst>
              <a:path w="8247127" h="5572984">
                <a:moveTo>
                  <a:pt x="0" y="0"/>
                </a:moveTo>
                <a:lnTo>
                  <a:pt x="8247128" y="0"/>
                </a:lnTo>
                <a:lnTo>
                  <a:pt x="8247128" y="5572984"/>
                </a:lnTo>
                <a:lnTo>
                  <a:pt x="0" y="5572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6886575" cy="2362200"/>
            <a:chOff x="0" y="0"/>
            <a:chExt cx="9182100" cy="3149600"/>
          </a:xfrm>
        </p:grpSpPr>
        <p:sp>
          <p:nvSpPr>
            <p:cNvPr id="6" name="TextBox 6"/>
            <p:cNvSpPr txBox="1"/>
            <p:nvPr/>
          </p:nvSpPr>
          <p:spPr>
            <a:xfrm>
              <a:off x="0" y="180975"/>
              <a:ext cx="91821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4F7F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 Utilization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5908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Essential Information for Analysis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4057650"/>
            <a:ext cx="6886575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</a:t>
            </a: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 Order details and timelines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Delivery and shipping information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Payment behavior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Customer location data</a:t>
            </a:r>
          </a:p>
          <a:p>
            <a:pPr marL="0" lvl="0" indent="0" algn="l">
              <a:lnSpc>
                <a:spcPts val="2879"/>
              </a:lnSpc>
            </a:pPr>
            <a:endParaRPr lang="en-US" sz="2400" u="none" strike="noStrike">
              <a:solidFill>
                <a:srgbClr val="F4F7F9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Each order analyzed from multiple perspectives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9675"/>
            <a:ext cx="6886575" cy="372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4F7F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Insights for Reducing Late Deliveries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953047"/>
            <a:chOff x="0" y="0"/>
            <a:chExt cx="5346700" cy="26040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Certain areas experience </a:t>
              </a:r>
              <a:r>
                <a:rPr lang="en-US" sz="2370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significant delivery delays</a:t>
              </a:r>
              <a:r>
                <a:rPr lang="en-US" sz="237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consistently.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Regional Delays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599643"/>
            <a:chOff x="0" y="0"/>
            <a:chExt cx="5346700" cy="21328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Increased delays correlate with </a:t>
              </a:r>
              <a:r>
                <a:rPr lang="en-US" sz="2370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rising freight costs</a:t>
              </a:r>
              <a:r>
                <a:rPr lang="en-US" sz="237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High Freight Costs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952625"/>
            <a:chOff x="0" y="0"/>
            <a:chExt cx="5346700" cy="26035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Variability among sellers leads to </a:t>
              </a:r>
              <a:r>
                <a:rPr lang="en-US" sz="2370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inconsistent delivery experiences</a:t>
              </a:r>
              <a:r>
                <a:rPr lang="en-US" sz="2370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Seller Performance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-3810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896" t="-6573" r="-4031" b="-34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0" y="628650"/>
            <a:ext cx="7858125" cy="3810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 flipV="1">
            <a:off x="0" y="9582150"/>
            <a:ext cx="7858125" cy="3810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1209675"/>
            <a:ext cx="68865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4F7F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What We Built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971800"/>
            <a:ext cx="5448300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A syst</a:t>
            </a: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em that predicts: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Will an order be delivered late?</a:t>
            </a:r>
          </a:p>
          <a:p>
            <a:pPr marL="0" lvl="0" indent="0" algn="l">
              <a:lnSpc>
                <a:spcPts val="2879"/>
              </a:lnSpc>
            </a:pPr>
            <a:endParaRPr lang="en-US" sz="2400" u="none" strike="noStrike">
              <a:solidFill>
                <a:srgbClr val="F4F7F9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Identifies risky orders early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Uses historical patterns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4F7F9"/>
                </a:solidFill>
                <a:latin typeface="HK Grotesk"/>
                <a:ea typeface="HK Grotesk"/>
                <a:cs typeface="HK Grotesk"/>
                <a:sym typeface="HK Grotesk"/>
              </a:rPr>
              <a:t>• Supports better decision-making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3926950"/>
            <a:ext cx="4639154" cy="3561525"/>
            <a:chOff x="0" y="0"/>
            <a:chExt cx="1221835" cy="9380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1835" cy="938015"/>
            </a:xfrm>
            <a:custGeom>
              <a:avLst/>
              <a:gdLst/>
              <a:ahLst/>
              <a:cxnLst/>
              <a:rect l="l" t="t" r="r" b="b"/>
              <a:pathLst>
                <a:path w="1221835" h="938015">
                  <a:moveTo>
                    <a:pt x="85110" y="0"/>
                  </a:moveTo>
                  <a:lnTo>
                    <a:pt x="1136725" y="0"/>
                  </a:lnTo>
                  <a:cubicBezTo>
                    <a:pt x="1159297" y="0"/>
                    <a:pt x="1180945" y="8967"/>
                    <a:pt x="1196907" y="24928"/>
                  </a:cubicBezTo>
                  <a:cubicBezTo>
                    <a:pt x="1212868" y="40889"/>
                    <a:pt x="1221835" y="62537"/>
                    <a:pt x="1221835" y="85110"/>
                  </a:cubicBezTo>
                  <a:lnTo>
                    <a:pt x="1221835" y="852905"/>
                  </a:lnTo>
                  <a:cubicBezTo>
                    <a:pt x="1221835" y="875477"/>
                    <a:pt x="1212868" y="897125"/>
                    <a:pt x="1196907" y="913087"/>
                  </a:cubicBezTo>
                  <a:cubicBezTo>
                    <a:pt x="1180945" y="929048"/>
                    <a:pt x="1159297" y="938015"/>
                    <a:pt x="1136725" y="938015"/>
                  </a:cubicBezTo>
                  <a:lnTo>
                    <a:pt x="85110" y="938015"/>
                  </a:lnTo>
                  <a:cubicBezTo>
                    <a:pt x="62537" y="938015"/>
                    <a:pt x="40889" y="929048"/>
                    <a:pt x="24928" y="913087"/>
                  </a:cubicBezTo>
                  <a:cubicBezTo>
                    <a:pt x="8967" y="897125"/>
                    <a:pt x="0" y="875477"/>
                    <a:pt x="0" y="852905"/>
                  </a:cubicBezTo>
                  <a:lnTo>
                    <a:pt x="0" y="85110"/>
                  </a:lnTo>
                  <a:cubicBezTo>
                    <a:pt x="0" y="62537"/>
                    <a:pt x="8967" y="40889"/>
                    <a:pt x="24928" y="24928"/>
                  </a:cubicBezTo>
                  <a:cubicBezTo>
                    <a:pt x="40889" y="8967"/>
                    <a:pt x="62537" y="0"/>
                    <a:pt x="85110" y="0"/>
                  </a:cubicBez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221835" cy="938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9259" y="4203175"/>
            <a:ext cx="4010025" cy="2809875"/>
            <a:chOff x="0" y="0"/>
            <a:chExt cx="5346700" cy="37465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5346700" cy="546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6"/>
                </a:lnSpc>
                <a:spcBef>
                  <a:spcPct val="0"/>
                </a:spcBef>
              </a:pPr>
              <a:r>
                <a:rPr lang="en-US" sz="2747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Early Detection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22375"/>
              <a:ext cx="5346700" cy="2524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31"/>
                </a:lnSpc>
                <a:spcBef>
                  <a:spcPct val="0"/>
                </a:spcBef>
              </a:pP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Implementing a predictive model allows for </a:t>
              </a:r>
              <a:r>
                <a:rPr lang="en-US" sz="2109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early identification</a:t>
              </a: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of potential delivery issues, enabling logistics teams to respond swiftly and mitigate risks before they affect the customer experience.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27795" y="3926950"/>
            <a:ext cx="4639154" cy="3561525"/>
            <a:chOff x="0" y="0"/>
            <a:chExt cx="1221835" cy="9380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1835" cy="938015"/>
            </a:xfrm>
            <a:custGeom>
              <a:avLst/>
              <a:gdLst/>
              <a:ahLst/>
              <a:cxnLst/>
              <a:rect l="l" t="t" r="r" b="b"/>
              <a:pathLst>
                <a:path w="1221835" h="938015">
                  <a:moveTo>
                    <a:pt x="85110" y="0"/>
                  </a:moveTo>
                  <a:lnTo>
                    <a:pt x="1136725" y="0"/>
                  </a:lnTo>
                  <a:cubicBezTo>
                    <a:pt x="1159297" y="0"/>
                    <a:pt x="1180945" y="8967"/>
                    <a:pt x="1196907" y="24928"/>
                  </a:cubicBezTo>
                  <a:cubicBezTo>
                    <a:pt x="1212868" y="40889"/>
                    <a:pt x="1221835" y="62537"/>
                    <a:pt x="1221835" y="85110"/>
                  </a:cubicBezTo>
                  <a:lnTo>
                    <a:pt x="1221835" y="852905"/>
                  </a:lnTo>
                  <a:cubicBezTo>
                    <a:pt x="1221835" y="875477"/>
                    <a:pt x="1212868" y="897125"/>
                    <a:pt x="1196907" y="913087"/>
                  </a:cubicBezTo>
                  <a:cubicBezTo>
                    <a:pt x="1180945" y="929048"/>
                    <a:pt x="1159297" y="938015"/>
                    <a:pt x="1136725" y="938015"/>
                  </a:cubicBezTo>
                  <a:lnTo>
                    <a:pt x="85110" y="938015"/>
                  </a:lnTo>
                  <a:cubicBezTo>
                    <a:pt x="62537" y="938015"/>
                    <a:pt x="40889" y="929048"/>
                    <a:pt x="24928" y="913087"/>
                  </a:cubicBezTo>
                  <a:cubicBezTo>
                    <a:pt x="8967" y="897125"/>
                    <a:pt x="0" y="875477"/>
                    <a:pt x="0" y="852905"/>
                  </a:cubicBezTo>
                  <a:lnTo>
                    <a:pt x="0" y="85110"/>
                  </a:lnTo>
                  <a:cubicBezTo>
                    <a:pt x="0" y="62537"/>
                    <a:pt x="8967" y="40889"/>
                    <a:pt x="24928" y="24928"/>
                  </a:cubicBezTo>
                  <a:cubicBezTo>
                    <a:pt x="40889" y="8967"/>
                    <a:pt x="62537" y="0"/>
                    <a:pt x="85110" y="0"/>
                  </a:cubicBez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221835" cy="938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42359" y="4203175"/>
            <a:ext cx="4010025" cy="2838450"/>
            <a:chOff x="0" y="0"/>
            <a:chExt cx="5346700" cy="37846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46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6"/>
                </a:lnSpc>
                <a:spcBef>
                  <a:spcPct val="0"/>
                </a:spcBef>
              </a:pPr>
              <a:r>
                <a:rPr lang="en-US" sz="2747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Improved Communication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60475"/>
              <a:ext cx="5346700" cy="2524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31"/>
                </a:lnSpc>
                <a:spcBef>
                  <a:spcPct val="0"/>
                </a:spcBef>
              </a:pP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Proactive notification systems can help keep customers informed about their order status, fostering a sense of </a:t>
              </a:r>
              <a:r>
                <a:rPr lang="en-US" sz="2109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trust</a:t>
              </a: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transparency, which are essential for enhancing customer satisfaction and loyalty.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424223" y="3926950"/>
            <a:ext cx="4639154" cy="3561525"/>
            <a:chOff x="0" y="0"/>
            <a:chExt cx="1221835" cy="9380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21835" cy="938015"/>
            </a:xfrm>
            <a:custGeom>
              <a:avLst/>
              <a:gdLst/>
              <a:ahLst/>
              <a:cxnLst/>
              <a:rect l="l" t="t" r="r" b="b"/>
              <a:pathLst>
                <a:path w="1221835" h="938015">
                  <a:moveTo>
                    <a:pt x="85110" y="0"/>
                  </a:moveTo>
                  <a:lnTo>
                    <a:pt x="1136725" y="0"/>
                  </a:lnTo>
                  <a:cubicBezTo>
                    <a:pt x="1159297" y="0"/>
                    <a:pt x="1180945" y="8967"/>
                    <a:pt x="1196907" y="24928"/>
                  </a:cubicBezTo>
                  <a:cubicBezTo>
                    <a:pt x="1212868" y="40889"/>
                    <a:pt x="1221835" y="62537"/>
                    <a:pt x="1221835" y="85110"/>
                  </a:cubicBezTo>
                  <a:lnTo>
                    <a:pt x="1221835" y="852905"/>
                  </a:lnTo>
                  <a:cubicBezTo>
                    <a:pt x="1221835" y="875477"/>
                    <a:pt x="1212868" y="897125"/>
                    <a:pt x="1196907" y="913087"/>
                  </a:cubicBezTo>
                  <a:cubicBezTo>
                    <a:pt x="1180945" y="929048"/>
                    <a:pt x="1159297" y="938015"/>
                    <a:pt x="1136725" y="938015"/>
                  </a:cubicBezTo>
                  <a:lnTo>
                    <a:pt x="85110" y="938015"/>
                  </a:lnTo>
                  <a:cubicBezTo>
                    <a:pt x="62537" y="938015"/>
                    <a:pt x="40889" y="929048"/>
                    <a:pt x="24928" y="913087"/>
                  </a:cubicBezTo>
                  <a:cubicBezTo>
                    <a:pt x="8967" y="897125"/>
                    <a:pt x="0" y="875477"/>
                    <a:pt x="0" y="852905"/>
                  </a:cubicBezTo>
                  <a:lnTo>
                    <a:pt x="0" y="85110"/>
                  </a:lnTo>
                  <a:cubicBezTo>
                    <a:pt x="0" y="62537"/>
                    <a:pt x="8967" y="40889"/>
                    <a:pt x="24928" y="24928"/>
                  </a:cubicBezTo>
                  <a:cubicBezTo>
                    <a:pt x="40889" y="8967"/>
                    <a:pt x="62537" y="0"/>
                    <a:pt x="85110" y="0"/>
                  </a:cubicBez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221835" cy="938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81386" y="4203175"/>
            <a:ext cx="4324829" cy="3124200"/>
            <a:chOff x="0" y="0"/>
            <a:chExt cx="5766438" cy="41656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5766438" cy="546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6"/>
                </a:lnSpc>
                <a:spcBef>
                  <a:spcPct val="0"/>
                </a:spcBef>
              </a:pPr>
              <a:r>
                <a:rPr lang="en-US" sz="2747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Better Planning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222375"/>
              <a:ext cx="5766438" cy="294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31"/>
                </a:lnSpc>
                <a:spcBef>
                  <a:spcPct val="0"/>
                </a:spcBef>
              </a:pP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analyzing delivery data, our team can optimize logistics operations and </a:t>
              </a:r>
              <a:r>
                <a:rPr lang="en-US" sz="2109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strategically allocate</a:t>
              </a: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resources, ensuring timely deliveries and reducing costs associated with delays, ultimately benefiting the bottom line.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1028700"/>
            <a:ext cx="16954500" cy="2200275"/>
            <a:chOff x="0" y="0"/>
            <a:chExt cx="22606000" cy="293370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4F7F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Business Impact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387600"/>
              <a:ext cx="22606000" cy="546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6"/>
                </a:lnSpc>
              </a:pPr>
              <a:r>
                <a:rPr lang="en-US" sz="2747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Enhancing Delivery Logistics Efficiency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58292" y="1562100"/>
            <a:ext cx="7401008" cy="2190750"/>
            <a:chOff x="0" y="0"/>
            <a:chExt cx="9868010" cy="292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86801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Prioritize Orders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9868010" cy="168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531"/>
                </a:lnSpc>
                <a:spcBef>
                  <a:spcPct val="0"/>
                </a:spcBef>
              </a:pP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Focusing on </a:t>
              </a:r>
              <a:r>
                <a:rPr lang="en-US" sz="2109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risky orders</a:t>
              </a: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allows us to address potential delays proactively, ensuring timely deliveries. This prioritization enhances customer satisfaction and minimizes negative feedback from our valued clients.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58292" y="6817432"/>
            <a:ext cx="7401008" cy="2219325"/>
            <a:chOff x="0" y="0"/>
            <a:chExt cx="9868010" cy="2959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86801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Notify Customers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73175"/>
              <a:ext cx="9868010" cy="168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531"/>
                </a:lnSpc>
                <a:spcBef>
                  <a:spcPct val="0"/>
                </a:spcBef>
              </a:pP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Keeping customers informed about their order status is essential. </a:t>
              </a:r>
              <a:r>
                <a:rPr lang="en-US" sz="2109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Proactive notifications</a:t>
              </a: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about potential delays foster trust and transparency, leading to improved customer relationships and reduced support inquiries.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58292" y="4188532"/>
            <a:ext cx="7401008" cy="2190750"/>
            <a:chOff x="0" y="0"/>
            <a:chExt cx="9868010" cy="29210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986801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Monitor Sellers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35075"/>
              <a:ext cx="9868010" cy="168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531"/>
                </a:lnSpc>
                <a:spcBef>
                  <a:spcPct val="0"/>
                </a:spcBef>
              </a:pP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Regularly assessing seller performance helps identify those who struggle with timely deliveries. Implementing a </a:t>
              </a:r>
              <a:r>
                <a:rPr lang="en-US" sz="2109" b="1" u="none" strike="noStrike">
                  <a:solidFill>
                    <a:srgbClr val="F4F7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monitoring system</a:t>
              </a:r>
              <a:r>
                <a:rPr lang="en-US" sz="2109" u="none" strike="noStrike">
                  <a:solidFill>
                    <a:srgbClr val="F4F7F9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allows for targeted support and ensures consistency in service quality across all sellers.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1028700"/>
            <a:ext cx="8477250" cy="2209800"/>
            <a:chOff x="0" y="0"/>
            <a:chExt cx="11303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11303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4F7F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Recommendations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11303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4F7F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Strategies for Enhancing Deliveries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9675"/>
            <a:ext cx="126396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4F7F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Conclusion 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4F7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3088200"/>
            <a:ext cx="9127656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• Late deliveries can be predicted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• Data enables proactive decisions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• Improves customer satisfaction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• Supports business growth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799" b="1">
              <a:solidFill>
                <a:srgbClr val="F4F7F9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4F7F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Data-driven decisions can transform delivery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4033" y="4592955"/>
            <a:ext cx="6219934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>
                <a:solidFill>
                  <a:srgbClr val="F4F7F9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Custom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HK Grotesk</vt:lpstr>
      <vt:lpstr>HK Grotesk Semi-Bold</vt:lpstr>
      <vt:lpstr>Noto Serif Display ExtraCondensed Light</vt:lpstr>
      <vt:lpstr>Calibri</vt:lpstr>
      <vt:lpstr>Noto Serif Display ExtraCondensed</vt:lpstr>
      <vt:lpstr>Arial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Reducing Deliveries</dc:title>
  <dc:creator>Bhrami Zadafiya</dc:creator>
  <dc:description>Presentation - Reducing Deliveries</dc:description>
  <cp:lastModifiedBy>Bhrami Zadafiya</cp:lastModifiedBy>
  <cp:revision>1</cp:revision>
  <dcterms:created xsi:type="dcterms:W3CDTF">2006-08-16T00:00:00Z</dcterms:created>
  <dcterms:modified xsi:type="dcterms:W3CDTF">2026-04-13T13:44:04Z</dcterms:modified>
  <dc:identifier>DAHGu3ZFtIo</dc:identifier>
</cp:coreProperties>
</file>